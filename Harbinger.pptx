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embeddedFontLst>
    <p:embeddedFont>
      <p:font typeface="Open Sans"/>
      <p:regular r:id="rId14"/>
    </p:embeddedFont>
    <p:embeddedFont>
      <p:font typeface="Unbounded Bold"/>
    </p:embeddedFont>
    <p:embeddedFont>
      <p:font typeface="+mn-lt"/>
    </p:embeddedFont>
    <p:embeddedFont>
      <p:font typeface="+mn-ea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font" Target="fonts/Font_1_Open_Sans_Regular.fntdata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0E0D8D9-5BE0-46F0-99F4-93FDFF2A902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6BBC85D-526F-4138-AF72-757AFEC58DF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F053123E-6E86-47A1-8B5B-0C65A2E257C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96F8606-CF40-4729-8F76-5741499D344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/>
          <p:cNvSpPr/>
          <p:nvPr/>
        </p:nvSpPr>
        <p:spPr>
          <a:xfrm>
            <a:off x="514440" y="4352040"/>
            <a:ext cx="3961800" cy="12315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514440" y="2455200"/>
            <a:ext cx="6443280" cy="123156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Text 0"/>
          <p:cNvSpPr/>
          <p:nvPr/>
        </p:nvSpPr>
        <p:spPr>
          <a:xfrm>
            <a:off x="661320" y="1596600"/>
            <a:ext cx="533412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1" u="none" strike="noStrik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Harbinger</a:t>
            </a:r>
            <a:endParaRPr lang="ru-RU" sz="3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661320" y="2451600"/>
            <a:ext cx="6296040" cy="12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33000"/>
              </a:lnSpc>
              <a:tabLst>
                <a:tab pos="0" algn="l"/>
              </a:tabLst>
            </a:pPr>
            <a:r>
              <a:rPr lang="ru-RU" sz="145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Таск трекер для отслеживания рабочих задач.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713160" y="4352040"/>
            <a:ext cx="609444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Команда:</a:t>
            </a:r>
            <a:br>
              <a:rPr sz="1800"/>
            </a:br>
            <a:r>
              <a:rPr lang="ru-RU" sz="1800" b="1" u="none" strike="noStrik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Кузнецов Игорь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/>
          <p:cNvSpPr/>
          <p:nvPr/>
        </p:nvSpPr>
        <p:spPr>
          <a:xfrm>
            <a:off x="466560" y="1019160"/>
            <a:ext cx="11181600" cy="276048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Box 4"/>
          <p:cNvSpPr/>
          <p:nvPr/>
        </p:nvSpPr>
        <p:spPr>
          <a:xfrm>
            <a:off x="1607400" y="198720"/>
            <a:ext cx="8984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Проблема и целевая аудитория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6"/>
          <p:cNvSpPr/>
          <p:nvPr/>
        </p:nvSpPr>
        <p:spPr>
          <a:xfrm>
            <a:off x="466560" y="1017360"/>
            <a:ext cx="11181600" cy="31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Jira и Asana — избыточны для малых команд.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Trello и Notion — облачные SaaS: данные вне контура, подписка от $5–15/юзер.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Нет кастомизации под свои процессы.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Аудитория: малые команды разработки (2–10 человек), solo-разработчики, фрилансеры.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Покупатель: CTO / тимлид, ищущий self-hosted решение без подписки за каждого пользователя.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/>
          <p:cNvSpPr/>
          <p:nvPr/>
        </p:nvSpPr>
        <p:spPr>
          <a:xfrm>
            <a:off x="533520" y="1526040"/>
            <a:ext cx="11124360" cy="441360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TextBox 2"/>
          <p:cNvSpPr/>
          <p:nvPr/>
        </p:nvSpPr>
        <p:spPr>
          <a:xfrm>
            <a:off x="3048120" y="25668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Решение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4"/>
          <p:cNvSpPr/>
          <p:nvPr/>
        </p:nvSpPr>
        <p:spPr>
          <a:xfrm>
            <a:off x="533520" y="1526040"/>
            <a:ext cx="11324520" cy="49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Harbinger — self-hosted таск-трекер, разворачивается одной командой docker compose up.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Канбан с drag&amp;drop между статусами.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Корзина с soft-delete и восстановлением.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Обратный отсчёт до дедлайна (точность до секунд).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Музыкальный плеер прямо в интерфейсе.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Админ-панель для управления пользователями.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Open Source (MIT), данные внутри вашего контура.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"/>
          <p:cNvSpPr/>
          <p:nvPr/>
        </p:nvSpPr>
        <p:spPr>
          <a:xfrm>
            <a:off x="304920" y="2120400"/>
            <a:ext cx="11581560" cy="227952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Box 2"/>
          <p:cNvSpPr/>
          <p:nvPr/>
        </p:nvSpPr>
        <p:spPr>
          <a:xfrm>
            <a:off x="3048120" y="11376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Рынок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304920" y="2160000"/>
            <a:ext cx="11610360" cy="22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TAM: $6.8 млрд (глобальный рынок Task Management, CAGR 13.4%).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SAM: $90 млн (Россия, CAGR 11%; self-hosted — до 18% в год).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SOM: $450–900 тыс./год — доля 0.5–1% SAM в сегменте SME за 3 года.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1"/>
          <p:cNvSpPr/>
          <p:nvPr/>
        </p:nvSpPr>
        <p:spPr>
          <a:xfrm>
            <a:off x="495360" y="819360"/>
            <a:ext cx="11277000" cy="260028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Box 2"/>
          <p:cNvSpPr/>
          <p:nvPr/>
        </p:nvSpPr>
        <p:spPr>
          <a:xfrm>
            <a:off x="3048120" y="13284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Бизнес-модель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Box 4"/>
          <p:cNvSpPr/>
          <p:nvPr/>
        </p:nvSpPr>
        <p:spPr>
          <a:xfrm>
            <a:off x="495360" y="819360"/>
            <a:ext cx="11277000" cy="29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Модель Open Core + Self-Hosted + SaaS.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Community Edition — бесплатно, лицензия MIT, для разработчиков и малых команд.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Enterprise Self-Hosted — от 30 000 ₽/год, для компаний с требованиями к безопасности.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Cloud SaaS — от 990 ₽/мес за пользователя, для команд без инфраструктуры.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Open source снижает барьер входа, self-hosted закрывает безопасность, уникальные фичи выделяют продукт.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1"/>
          <p:cNvSpPr/>
          <p:nvPr/>
        </p:nvSpPr>
        <p:spPr>
          <a:xfrm>
            <a:off x="838080" y="1301760"/>
            <a:ext cx="10514880" cy="211788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Box 2"/>
          <p:cNvSpPr/>
          <p:nvPr/>
        </p:nvSpPr>
        <p:spPr>
          <a:xfrm>
            <a:off x="3048120" y="18036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Технологии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38080" y="1301760"/>
            <a:ext cx="10514880" cy="21405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Backend — Python 3.12, FastAPI, SQLAlchemy 2.0. Аутентификация — JWT. База данных — PostgreSQL 16, миграции через Alembic. Админка — SQLAdmin.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Frontend — React 18, TypeScript, Vite, Tailwind.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6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Инфраструктура — Docker, Nginx, GitHub Actions.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"/>
          <p:cNvSpPr/>
          <p:nvPr/>
        </p:nvSpPr>
        <p:spPr>
          <a:xfrm>
            <a:off x="485640" y="750960"/>
            <a:ext cx="11219760" cy="302868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TextBox 2"/>
          <p:cNvSpPr/>
          <p:nvPr/>
        </p:nvSpPr>
        <p:spPr>
          <a:xfrm>
            <a:off x="3048120" y="23760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Трэкшн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4"/>
          <p:cNvSpPr/>
          <p:nvPr/>
        </p:nvSpPr>
        <p:spPr>
          <a:xfrm>
            <a:off x="540000" y="750960"/>
            <a:ext cx="11457720" cy="37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Продукт: полный CRUD задач с фильтрами по статусу, приоритету и поиску. Канбан с drag&amp;drop и оптимистичными обновлениями. Корзина с soft-delete, восстановлением и удалением навсегда. Анимированный таймер до дедлайна. Музыкальный плеер с винилом, loop, seek и сортировкой. Админ-панель и SQLAdmin.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Инфраструктура: Docker Compose поднимает весь проект одной командой. CI/CD из трёх workflow — backend CI, frontend CI, публикация в GHCR. Setup-скрипты для Windows, Linux и macOS.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1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Процесс: Conventional Commits, PR в dev, merge в main только через review. Около 80 pytest-тестов на backend, typecheck и eslint на frontend.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1"/>
          <p:cNvSpPr/>
          <p:nvPr/>
        </p:nvSpPr>
        <p:spPr>
          <a:xfrm>
            <a:off x="360000" y="1314360"/>
            <a:ext cx="11519640" cy="4160520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Box 3"/>
          <p:cNvSpPr/>
          <p:nvPr/>
        </p:nvSpPr>
        <p:spPr>
          <a:xfrm>
            <a:off x="3048120" y="360000"/>
            <a:ext cx="6095160" cy="51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ru-RU" sz="2800" b="1" u="none" strike="noStrike">
                <a:solidFill>
                  <a:srgbClr val="333F70"/>
                </a:solidFill>
                <a:effectLst/>
                <a:uFillTx/>
                <a:latin typeface="Unbounded Bold"/>
              </a:rPr>
              <a:t>Конкуренты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60000" y="1314360"/>
            <a:ext cx="11519640" cy="4275360"/>
          </a:xfrm>
          <a:prstGeom prst="rect">
            <a:avLst/>
          </a:prstGeom>
          <a:noFill/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Harbinger отличается от Trello, Jira, Notion и open-source аналогов (Wekan, Vikunja) тремя вещами.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Первое — уникальные фичи: музыкальный плеер прямо в UI и анимированный обратный отсчёт до дедлайна. Ни у кого из конкурентов этого нет.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Второе — современный стек: FastAPI + React 18 + TanStack Query. Свежий, активно развивается.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Третье — полный CI/CD из коробки: Docker-образы backend и frontend публикуются в GHCR автоматически при push в main.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180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По цене Harbinger — бесплатно под MIT. У Trello, Jira и Notion — подписка от $5 до $17.50 за пользователя в месяц.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2885400" y="380160"/>
            <a:ext cx="6419880" cy="5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700" b="1" u="none" strike="noStrik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Планы на будущее</a:t>
            </a:r>
            <a:endParaRPr lang="ru-RU" sz="3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"/>
          <p:cNvSpPr/>
          <p:nvPr/>
        </p:nvSpPr>
        <p:spPr>
          <a:xfrm>
            <a:off x="180000" y="1560600"/>
            <a:ext cx="11879640" cy="2039040"/>
          </a:xfrm>
          <a:prstGeom prst="roundRect">
            <a:avLst>
              <a:gd name="adj" fmla="val 6964"/>
            </a:avLst>
          </a:prstGeom>
          <a:solidFill>
            <a:srgbClr val="FFFFFF"/>
          </a:solidFill>
          <a:ln w="25399">
            <a:solidFill>
              <a:srgbClr val="BCDB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180000" y="1620000"/>
            <a:ext cx="11879640" cy="19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5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Ближайший спринт. Refresh-токен через interceptor. Мобильный адаптив. Vitest и testing-library для фронтенда.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5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Следующие спринты. Тёмная тема. Теги и категории задач. Экспорт в CSV и JSON. Bulk-операции.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50" b="0" u="none" strike="noStrike">
                <a:solidFill>
                  <a:srgbClr val="333F70"/>
                </a:solidFill>
                <a:effectLst/>
                <a:uFillTx/>
                <a:latin typeface="Open Sans"/>
                <a:ea typeface="Open Sans"/>
              </a:rPr>
              <a:t>Дальняя перспектива. WebSocket для real-time. PWA с офлайн-режимом. E2E-тесты на Playwright. SSO и LDAP для Enterprise-версии.</a:t>
            </a: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3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ru-RU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3263760" y="584280"/>
            <a:ext cx="5663160" cy="5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3300" b="1" u="none" strike="noStrike">
                <a:solidFill>
                  <a:srgbClr val="333F70"/>
                </a:solidFill>
                <a:effectLst/>
                <a:uFillTx/>
                <a:latin typeface="Unbounded Bold"/>
                <a:ea typeface="Unbounded Bold"/>
              </a:rPr>
              <a:t>Главная страница</a:t>
            </a:r>
            <a:endParaRPr lang="ru-RU" sz="3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" name=""/>
          <p:cNvPicPr/>
          <p:nvPr/>
        </p:nvPicPr>
        <p:blipFill>
          <a:blip r:embed="rId1"/>
          <a:stretch/>
        </p:blipFill>
        <p:spPr>
          <a:xfrm>
            <a:off x="1056600" y="1704960"/>
            <a:ext cx="10283040" cy="441468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LibreOffice/26.8.0.3$Windows_X86_64 LibreOffice_project/bce0998afefdbc355585ca324285661a2170ba77</Application>
  <AppVersion>15.0000</AppVersion>
  <Words>1696</Words>
  <Paragraphs>240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2026-07-03T22:37:13Z</dcterms:created>
  <dc:creator>Даниил Коваль</dc:creator>
  <dc:description/>
  <dc:language>ru-RU</dc:language>
  <cp:lastModifiedBy/>
  <dcterms:modified xsi:type="dcterms:W3CDTF">2026-10-13T01:56:20Z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20</vt:i4>
  </property>
</Properties>
</file>